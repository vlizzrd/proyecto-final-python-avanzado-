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aser Arabic Bold" charset="1" panose="00000800000000000000"/>
      <p:regular r:id="rId16"/>
    </p:embeddedFont>
    <p:embeddedFont>
      <p:font typeface="Niconne" charset="1" panose="02000505050000020002"/>
      <p:regular r:id="rId17"/>
    </p:embeddedFont>
    <p:embeddedFont>
      <p:font typeface="Montaser Arabic Semi-Bold" charset="1" panose="00000700000000000000"/>
      <p:regular r:id="rId18"/>
    </p:embeddedFont>
    <p:embeddedFont>
      <p:font typeface="Montaser Arabic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907699" y="4906933"/>
            <a:ext cx="2128339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9000" spc="32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AUTOMATIZACIÓN</a:t>
            </a:r>
          </a:p>
        </p:txBody>
      </p:sp>
      <p:sp>
        <p:nvSpPr>
          <p:cNvPr name="AutoShape 3" id="3"/>
          <p:cNvSpPr/>
          <p:nvPr/>
        </p:nvSpPr>
        <p:spPr>
          <a:xfrm>
            <a:off x="3502178" y="4652264"/>
            <a:ext cx="11384653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578663" y="2489996"/>
            <a:ext cx="4432764" cy="29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029"/>
              </a:lnSpc>
              <a:spcBef>
                <a:spcPct val="0"/>
              </a:spcBef>
            </a:pPr>
            <a:r>
              <a:rPr lang="en-US" sz="22029" spc="793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7011" y="3125297"/>
            <a:ext cx="11060989" cy="144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807"/>
              </a:lnSpc>
              <a:spcBef>
                <a:spcPct val="0"/>
              </a:spcBef>
            </a:pPr>
            <a:r>
              <a:rPr lang="en-US" sz="10807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ython y la  </a:t>
            </a:r>
          </a:p>
        </p:txBody>
      </p:sp>
      <p:sp>
        <p:nvSpPr>
          <p:cNvPr name="AutoShape 6" id="6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028700"/>
            <a:ext cx="56451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4"/>
              </a:lnSpc>
              <a:spcBef>
                <a:spcPct val="0"/>
              </a:spcBef>
            </a:pPr>
            <a:r>
              <a:rPr lang="en-US" b="true" sz="1912" spc="105">
                <a:solidFill>
                  <a:srgbClr val="0CC0D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CENTRO EDUCATIVO LOGROS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628186" y="4083557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557706" y="4101211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21435" y="6278533"/>
            <a:ext cx="56451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4"/>
              </a:lnSpc>
              <a:spcBef>
                <a:spcPct val="0"/>
              </a:spcBef>
            </a:pPr>
            <a:r>
              <a:rPr lang="en-US" b="true" sz="1912" spc="105">
                <a:solidFill>
                  <a:srgbClr val="004AA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REALIZADO POR EMA LUNA Y STEPHANIE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303" y="5942852"/>
            <a:ext cx="6897957" cy="197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01. El Problema: El trabajo manual</a:t>
            </a:r>
          </a:p>
          <a:p>
            <a:pPr algn="just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02. La Solución: automatización</a:t>
            </a:r>
          </a:p>
          <a:p>
            <a:pPr algn="just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03. ¿Por qué Python?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595809" y="5942852"/>
            <a:ext cx="7643182" cy="264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04. El caso de uso central: documentos masivos</a:t>
            </a:r>
          </a:p>
          <a:p>
            <a:pPr algn="l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05. Desglose del proceso</a:t>
            </a:r>
          </a:p>
          <a:p>
            <a:pPr algn="l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06.  Beneficios tangibles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5809" y="8639865"/>
            <a:ext cx="4663238" cy="61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57"/>
              </a:lnSpc>
            </a:pPr>
            <a:r>
              <a:rPr lang="en-US" sz="2959" spc="3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07. Conclusión y cierre</a:t>
            </a: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468441" y="4221443"/>
            <a:ext cx="11635320" cy="1548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88"/>
              </a:lnSpc>
              <a:spcBef>
                <a:spcPct val="0"/>
              </a:spcBef>
            </a:pPr>
            <a:r>
              <a:rPr lang="en-US" b="true" sz="11688" spc="42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CONTENIDO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68441" y="2329534"/>
            <a:ext cx="11351118" cy="176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89"/>
              </a:lnSpc>
              <a:spcBef>
                <a:spcPct val="0"/>
              </a:spcBef>
            </a:pPr>
            <a:r>
              <a:rPr lang="en-US" sz="13289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Agenda de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460410" y="2944136"/>
            <a:ext cx="704765" cy="704765"/>
          </a:xfrm>
          <a:custGeom>
            <a:avLst/>
            <a:gdLst/>
            <a:ahLst/>
            <a:cxnLst/>
            <a:rect r="r" b="b" t="t" l="l"/>
            <a:pathLst>
              <a:path h="704765" w="704765">
                <a:moveTo>
                  <a:pt x="0" y="0"/>
                </a:moveTo>
                <a:lnTo>
                  <a:pt x="704766" y="0"/>
                </a:lnTo>
                <a:lnTo>
                  <a:pt x="704766" y="704765"/>
                </a:lnTo>
                <a:lnTo>
                  <a:pt x="0" y="704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01918" y="2944136"/>
            <a:ext cx="704765" cy="704765"/>
          </a:xfrm>
          <a:custGeom>
            <a:avLst/>
            <a:gdLst/>
            <a:ahLst/>
            <a:cxnLst/>
            <a:rect r="r" b="b" t="t" l="l"/>
            <a:pathLst>
              <a:path h="704765" w="704765">
                <a:moveTo>
                  <a:pt x="0" y="0"/>
                </a:moveTo>
                <a:lnTo>
                  <a:pt x="704766" y="0"/>
                </a:lnTo>
                <a:lnTo>
                  <a:pt x="704766" y="704765"/>
                </a:lnTo>
                <a:lnTo>
                  <a:pt x="0" y="7047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61369" y="-1005934"/>
            <a:ext cx="5024430" cy="12435691"/>
            <a:chOff x="0" y="0"/>
            <a:chExt cx="1323307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3307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23307">
                  <a:moveTo>
                    <a:pt x="0" y="0"/>
                  </a:moveTo>
                  <a:lnTo>
                    <a:pt x="1323307" y="0"/>
                  </a:lnTo>
                  <a:lnTo>
                    <a:pt x="1323307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23307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715442" y="1028700"/>
            <a:ext cx="9543858" cy="8229600"/>
            <a:chOff x="0" y="0"/>
            <a:chExt cx="1763688" cy="15208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63688" cy="1520816"/>
            </a:xfrm>
            <a:custGeom>
              <a:avLst/>
              <a:gdLst/>
              <a:ahLst/>
              <a:cxnLst/>
              <a:rect r="r" b="b" t="t" l="l"/>
              <a:pathLst>
                <a:path h="1520816" w="1763688">
                  <a:moveTo>
                    <a:pt x="7301" y="0"/>
                  </a:moveTo>
                  <a:lnTo>
                    <a:pt x="1756388" y="0"/>
                  </a:lnTo>
                  <a:cubicBezTo>
                    <a:pt x="1760420" y="0"/>
                    <a:pt x="1763688" y="3269"/>
                    <a:pt x="1763688" y="7301"/>
                  </a:cubicBezTo>
                  <a:lnTo>
                    <a:pt x="1763688" y="1513515"/>
                  </a:lnTo>
                  <a:cubicBezTo>
                    <a:pt x="1763688" y="1515451"/>
                    <a:pt x="1762919" y="1517308"/>
                    <a:pt x="1761550" y="1518678"/>
                  </a:cubicBezTo>
                  <a:cubicBezTo>
                    <a:pt x="1760181" y="1520047"/>
                    <a:pt x="1758324" y="1520816"/>
                    <a:pt x="1756388" y="1520816"/>
                  </a:cubicBezTo>
                  <a:lnTo>
                    <a:pt x="7301" y="1520816"/>
                  </a:lnTo>
                  <a:cubicBezTo>
                    <a:pt x="3269" y="1520816"/>
                    <a:pt x="0" y="1517547"/>
                    <a:pt x="0" y="1513515"/>
                  </a:cubicBezTo>
                  <a:lnTo>
                    <a:pt x="0" y="7301"/>
                  </a:lnTo>
                  <a:cubicBezTo>
                    <a:pt x="0" y="5364"/>
                    <a:pt x="769" y="3507"/>
                    <a:pt x="2138" y="2138"/>
                  </a:cubicBezTo>
                  <a:cubicBezTo>
                    <a:pt x="3507" y="769"/>
                    <a:pt x="5364" y="0"/>
                    <a:pt x="730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CC0D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763688" cy="15493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986297" y="1278705"/>
            <a:ext cx="9017199" cy="7688903"/>
          </a:xfrm>
          <a:custGeom>
            <a:avLst/>
            <a:gdLst/>
            <a:ahLst/>
            <a:cxnLst/>
            <a:rect r="r" b="b" t="t" l="l"/>
            <a:pathLst>
              <a:path h="7688903" w="9017199">
                <a:moveTo>
                  <a:pt x="0" y="0"/>
                </a:moveTo>
                <a:lnTo>
                  <a:pt x="9017199" y="0"/>
                </a:lnTo>
                <a:lnTo>
                  <a:pt x="9017199" y="7688903"/>
                </a:lnTo>
                <a:lnTo>
                  <a:pt x="0" y="7688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91" t="0" r="-13991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52616" y="4186555"/>
            <a:ext cx="6140940" cy="533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Piense en la cantidad de horas que usted o su equipo dedican semanalmente a tareas idénticas, como copiar datos de un lugar a otro o llenar formularios. Este tiempo es una pérdida de recurso valioso.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fatiga y la monotonía llevan inevitablemente a errores de dedo o de transcripción. Un solo error en una boleta o contrato puede generar problemas legales o financieros. La automatización garantiza la exactitud.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Cuando la carga de trabajo aumenta (por ejemplo, en cierres de mes o temporadas altas), el proceso manual colapsa. No se puede manejar una generación masiva de documentos sin la ayuda de una herramienta automatizada.</a:t>
            </a: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73509" y="2101599"/>
            <a:ext cx="799866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EL PROBLEMA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616" y="2907030"/>
            <a:ext cx="764044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El trabajo manual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74688" y="4187633"/>
            <a:ext cx="10738624" cy="1441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59"/>
              </a:lnSpc>
            </a:pPr>
            <a:r>
              <a:rPr lang="en-US" sz="10339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Automatización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916762" y="4488640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8" y="0"/>
                </a:lnTo>
                <a:lnTo>
                  <a:pt x="865568" y="865567"/>
                </a:lnTo>
                <a:lnTo>
                  <a:pt x="0" y="86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9970" y="2672264"/>
            <a:ext cx="17589725" cy="181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69"/>
              </a:lnSpc>
            </a:pPr>
            <a:r>
              <a:rPr lang="en-US" b="true" sz="1308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LA SOLUCIÓN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1496" y="6009227"/>
            <a:ext cx="13158073" cy="390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automatización no solo es rápida; es consistente. Una vez que el script está funcionando, la tarea se ejecuta de manera fiable siempre, liberando a los empleados para actividades que requieren juicio humano, creatividad y análisis.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código no se equivoca al sumar o al transcribir. Esto se traduce en documentos confiables y una reducción significativa del tiempo dedicado a la revisión y corrección.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 automatizar, se asegura que cada documento o proceso siga exactamente la misma regla de negocio, eliminando variaciones y garantizando el cumplimiento normativo.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3152"/>
              </a:lnSpc>
            </a:pPr>
          </a:p>
        </p:txBody>
      </p:sp>
      <p:sp>
        <p:nvSpPr>
          <p:cNvPr name="AutoShape 6" id="6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2551496" y="4488640"/>
            <a:ext cx="865567" cy="865567"/>
          </a:xfrm>
          <a:custGeom>
            <a:avLst/>
            <a:gdLst/>
            <a:ahLst/>
            <a:cxnLst/>
            <a:rect r="r" b="b" t="t" l="l"/>
            <a:pathLst>
              <a:path h="865567" w="865567">
                <a:moveTo>
                  <a:pt x="0" y="0"/>
                </a:moveTo>
                <a:lnTo>
                  <a:pt x="865568" y="0"/>
                </a:lnTo>
                <a:lnTo>
                  <a:pt x="865568" y="865567"/>
                </a:lnTo>
                <a:lnTo>
                  <a:pt x="0" y="8655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2587876" y="5804439"/>
            <a:ext cx="1316205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06452" y="6153719"/>
            <a:ext cx="4138878" cy="181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1765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</a:t>
            </a:r>
            <a:r>
              <a:rPr lang="en-US" sz="1765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 integra fácilmente con sistemas operativos, bases de datos y la web, lo que permite crear soluciones de automatización de extremo a extremo.</a:t>
            </a:r>
          </a:p>
          <a:p>
            <a:pPr algn="l">
              <a:lnSpc>
                <a:spcPts val="247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063393" y="6144194"/>
            <a:ext cx="4132847" cy="2127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Pyth</a:t>
            </a:r>
            <a:r>
              <a:rPr lang="en-US" sz="1750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on fue diseñado para ser legible. Su estructura es muy similar al inglés, lo que permite desarrollar scripts rápidamente y que sean fáciles de entender y mantener por otros miembros del equipo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47090" y="5162335"/>
            <a:ext cx="454189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0"/>
              </a:lnSpc>
              <a:spcBef>
                <a:spcPct val="0"/>
              </a:spcBef>
            </a:pPr>
            <a:r>
              <a:rPr lang="en-US" b="true" sz="3300" spc="79">
                <a:solidFill>
                  <a:srgbClr val="12111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Razón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27294" y="5162335"/>
            <a:ext cx="471560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79" b="true">
                <a:solidFill>
                  <a:srgbClr val="12111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Razón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2902" y="5253103"/>
            <a:ext cx="4557297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79" b="true">
                <a:solidFill>
                  <a:srgbClr val="121111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Razón 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94980" y="6153719"/>
            <a:ext cx="4136545" cy="303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2"/>
              </a:lnSpc>
            </a:pPr>
            <a:r>
              <a:rPr lang="en-US" sz="1765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 es su mayor poder. Python tiene módulos especializados para casi cualquier tarea:</a:t>
            </a:r>
          </a:p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pandas y openpyxl para trabajar con datos de Excel.</a:t>
            </a:r>
          </a:p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PyPDF2 o ReportLab para manejar PDFs.</a:t>
            </a:r>
          </a:p>
          <a:p>
            <a:pPr algn="l" marL="381246" indent="-190623" lvl="1">
              <a:lnSpc>
                <a:spcPts val="2472"/>
              </a:lnSpc>
              <a:buFont typeface="Arial"/>
              <a:buChar char="•"/>
            </a:pPr>
            <a:r>
              <a:rPr lang="en-US" sz="1765" spc="38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Librerías web para interactuar con APIs y páginas web.</a:t>
            </a:r>
          </a:p>
          <a:p>
            <a:pPr algn="l">
              <a:lnSpc>
                <a:spcPts val="247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63393" y="2355800"/>
            <a:ext cx="13637306" cy="176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37"/>
              </a:lnSpc>
            </a:pPr>
            <a:r>
              <a:rPr lang="en-US" b="true" sz="10383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¿POR QUÉ PYTHON?</a:t>
            </a:r>
          </a:p>
        </p:txBody>
      </p:sp>
      <p:sp>
        <p:nvSpPr>
          <p:cNvPr name="AutoShape 9" id="9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67451" y="2367640"/>
            <a:ext cx="14642807" cy="21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57"/>
              </a:lnSpc>
            </a:pPr>
            <a:r>
              <a:rPr lang="en-US" b="true" sz="750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E</a:t>
            </a:r>
            <a:r>
              <a:rPr lang="en-US" b="true" sz="750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 CASO DE USO CENTRAL: DOCUMENTOS MASIVOS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90736" y="4620260"/>
            <a:ext cx="11106528" cy="465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 es el ejemplo práctico que justifica nuestro proyecto. La generación de documentos es una de las tareas más comunes y tediosas en administración y RR.HH.</a:t>
            </a:r>
          </a:p>
          <a:p>
            <a:pPr algn="ctr">
              <a:lnSpc>
                <a:spcPts val="2659"/>
              </a:lnSpc>
            </a:pPr>
          </a:p>
          <a:p>
            <a:pPr algn="ctr">
              <a:lnSpc>
                <a:spcPts val="2659"/>
              </a:lnSpc>
            </a:pPr>
            <a:r>
              <a:rPr lang="en-US" sz="1899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Ejemplos de aplicación:</a:t>
            </a: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Boletas de pago/Nóminas: Leer un archivo de nómina maestra y generar cientos de PDFs individuales, calculando automáticamente deducciones o bonos.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Contratos: Tomar una plantilla legal y "fusionar" automáticamente los datos únicos del empleado (nombre, cargo, salario, fecha de inicio) para generar un contrato listo para firmar.</a:t>
            </a:r>
          </a:p>
          <a:p>
            <a:pPr algn="ctr">
              <a:lnSpc>
                <a:spcPts val="2659"/>
              </a:lnSpc>
            </a:pPr>
          </a:p>
          <a:p>
            <a:pPr algn="ctr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spc="4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Certificados y diplomas: Generar certificados masivos y personalizados después de un curso o evento.</a:t>
            </a:r>
          </a:p>
          <a:p>
            <a:pPr algn="ctr">
              <a:lnSpc>
                <a:spcPts val="2659"/>
              </a:lnSpc>
            </a:pP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10078" y="-597720"/>
            <a:ext cx="5099886" cy="12435691"/>
            <a:chOff x="0" y="0"/>
            <a:chExt cx="1343180" cy="32752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180" cy="3275244"/>
            </a:xfrm>
            <a:custGeom>
              <a:avLst/>
              <a:gdLst/>
              <a:ahLst/>
              <a:cxnLst/>
              <a:rect r="r" b="b" t="t" l="l"/>
              <a:pathLst>
                <a:path h="3275244" w="1343180">
                  <a:moveTo>
                    <a:pt x="0" y="0"/>
                  </a:moveTo>
                  <a:lnTo>
                    <a:pt x="1343180" y="0"/>
                  </a:lnTo>
                  <a:lnTo>
                    <a:pt x="1343180" y="3275244"/>
                  </a:lnTo>
                  <a:lnTo>
                    <a:pt x="0" y="3275244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343180" cy="33038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2354" y="1838528"/>
            <a:ext cx="6370954" cy="6907611"/>
            <a:chOff x="0" y="0"/>
            <a:chExt cx="8494606" cy="92101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94606" cy="3021358"/>
            </a:xfrm>
            <a:custGeom>
              <a:avLst/>
              <a:gdLst/>
              <a:ahLst/>
              <a:cxnLst/>
              <a:rect r="r" b="b" t="t" l="l"/>
              <a:pathLst>
                <a:path h="3021358" w="8494606">
                  <a:moveTo>
                    <a:pt x="0" y="0"/>
                  </a:moveTo>
                  <a:lnTo>
                    <a:pt x="8494606" y="0"/>
                  </a:lnTo>
                  <a:lnTo>
                    <a:pt x="8494606" y="3021358"/>
                  </a:lnTo>
                  <a:lnTo>
                    <a:pt x="0" y="3021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9936" r="0" b="-19936"/>
              </a:stretch>
            </a:blipFill>
            <a:ln w="66675" cap="sq">
              <a:solidFill>
                <a:srgbClr val="0CC0DF"/>
              </a:solidFill>
              <a:prstDash val="solid"/>
              <a:miter/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155" y="3578519"/>
              <a:ext cx="8487451" cy="5631630"/>
            </a:xfrm>
            <a:custGeom>
              <a:avLst/>
              <a:gdLst/>
              <a:ahLst/>
              <a:cxnLst/>
              <a:rect r="r" b="b" t="t" l="l"/>
              <a:pathLst>
                <a:path h="5631630" w="8487451">
                  <a:moveTo>
                    <a:pt x="0" y="0"/>
                  </a:moveTo>
                  <a:lnTo>
                    <a:pt x="8487451" y="0"/>
                  </a:lnTo>
                  <a:lnTo>
                    <a:pt x="8487451" y="5631630"/>
                  </a:lnTo>
                  <a:lnTo>
                    <a:pt x="0" y="5631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023" t="0" r="-9023" b="0"/>
              </a:stretch>
            </a:blipFill>
            <a:ln w="66675" cap="sq">
              <a:solidFill>
                <a:srgbClr val="0CC0D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836956" y="876300"/>
            <a:ext cx="13226984" cy="278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6"/>
              </a:lnSpc>
              <a:spcBef>
                <a:spcPct val="0"/>
              </a:spcBef>
            </a:pPr>
            <a:r>
              <a:rPr lang="en-US" b="true" sz="8004" spc="26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DESGLOSE DEL PROCESO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36956" y="3778126"/>
            <a:ext cx="8728627" cy="570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13"/>
              </a:lnSpc>
            </a:pPr>
            <a:r>
              <a:rPr lang="en-US" sz="21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 flujo de cuatro pasos explica cómo se ve el proceso en código:</a:t>
            </a:r>
          </a:p>
          <a:p>
            <a:pPr algn="just">
              <a:lnSpc>
                <a:spcPts val="3013"/>
              </a:lnSpc>
            </a:pPr>
          </a:p>
          <a:p>
            <a:pPr algn="just" marL="464744" indent="-232372" lvl="1">
              <a:lnSpc>
                <a:spcPts val="3013"/>
              </a:lnSpc>
              <a:buAutoNum type="arabicPeriod" startAt="1"/>
            </a:pPr>
            <a:r>
              <a:rPr lang="en-US" sz="21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Fuente de datos: El script utiliza una librería como pandas para leer la tabla maestra de datos (clientes, empleados, productos, etc.) que contiene toda la información variable.</a:t>
            </a:r>
          </a:p>
          <a:p>
            <a:pPr algn="just" marL="464744" indent="-232372" lvl="1">
              <a:lnSpc>
                <a:spcPts val="3013"/>
              </a:lnSpc>
              <a:buAutoNum type="arabicPeriod" startAt="1"/>
            </a:pPr>
            <a:r>
              <a:rPr lang="en-US" sz="21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Plantilla base: Se define una plantilla del documento final. Esta plantilla tiene "marcadores de posición" o variables (ej: $NOMBRE$, $SALARIO$).</a:t>
            </a:r>
          </a:p>
          <a:p>
            <a:pPr algn="just" marL="464744" indent="-232372" lvl="1">
              <a:lnSpc>
                <a:spcPts val="3013"/>
              </a:lnSpc>
              <a:buAutoNum type="arabicPeriod" startAt="1"/>
            </a:pPr>
            <a:r>
              <a:rPr lang="en-US" sz="21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Script de python (El Músculo): El código itera (recorre) cada fila de datos. Por cada fila, toma la plantilla y sustituye los marcadores de posición con los valores reales de esa fila.</a:t>
            </a:r>
          </a:p>
          <a:p>
            <a:pPr algn="just" marL="464744" indent="-232372" lvl="1">
              <a:lnSpc>
                <a:spcPts val="3013"/>
              </a:lnSpc>
              <a:buAutoNum type="arabicPeriod" startAt="1"/>
            </a:pPr>
            <a:r>
              <a:rPr lang="en-US" sz="21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Documentos finales: El resultado es una carpeta llena de archivos PDF, Word o CSV únicos y listos para su uso o envío.</a:t>
            </a:r>
          </a:p>
          <a:p>
            <a:pPr algn="just">
              <a:lnSpc>
                <a:spcPts val="3013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29387" y="8918697"/>
            <a:ext cx="21215185" cy="3017688"/>
            <a:chOff x="0" y="0"/>
            <a:chExt cx="5587539" cy="7947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7538" cy="794782"/>
            </a:xfrm>
            <a:custGeom>
              <a:avLst/>
              <a:gdLst/>
              <a:ahLst/>
              <a:cxnLst/>
              <a:rect r="r" b="b" t="t" l="l"/>
              <a:pathLst>
                <a:path h="794782" w="5587538">
                  <a:moveTo>
                    <a:pt x="0" y="0"/>
                  </a:moveTo>
                  <a:lnTo>
                    <a:pt x="5587538" y="0"/>
                  </a:lnTo>
                  <a:lnTo>
                    <a:pt x="5587538" y="794782"/>
                  </a:lnTo>
                  <a:lnTo>
                    <a:pt x="0" y="794782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587539" cy="82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2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360642" y="1524402"/>
            <a:ext cx="1564019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</a:pPr>
            <a:r>
              <a:rPr lang="en-US" b="true" sz="6604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 BENEFICIOS TANGIBLES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7169" y="2710616"/>
            <a:ext cx="15640190" cy="5865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6"/>
              </a:lnSpc>
            </a:pPr>
            <a:r>
              <a:rPr lang="en-US" sz="2399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¿Qué ganam</a:t>
            </a:r>
            <a:r>
              <a:rPr lang="en-US" sz="2399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os con este ejercicio?</a:t>
            </a:r>
          </a:p>
          <a:p>
            <a:pPr algn="ctr">
              <a:lnSpc>
                <a:spcPts val="4600"/>
              </a:lnSpc>
            </a:pPr>
          </a:p>
          <a:p>
            <a:pPr algn="ctr" marL="517959" indent="-258980" lvl="1">
              <a:lnSpc>
                <a:spcPts val="4246"/>
              </a:lnSpc>
              <a:buFont typeface="Arial"/>
              <a:buChar char="•"/>
            </a:pPr>
            <a:r>
              <a:rPr lang="en-US" sz="2399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Métricas de éxito: Un proceso que tomaba 8 horas manuales puede reducirse a 30 minutos de ejecución del script. Esto no es solo eficiencia; es una transformación de la productividad.</a:t>
            </a:r>
          </a:p>
          <a:p>
            <a:pPr algn="ctr">
              <a:lnSpc>
                <a:spcPts val="4246"/>
              </a:lnSpc>
            </a:pPr>
          </a:p>
          <a:p>
            <a:pPr algn="ctr" marL="517959" indent="-258980" lvl="1">
              <a:lnSpc>
                <a:spcPts val="4246"/>
              </a:lnSpc>
              <a:buFont typeface="Arial"/>
              <a:buChar char="•"/>
            </a:pPr>
            <a:r>
              <a:rPr lang="en-US" sz="2399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Reenfoque estratégico: El tiempo ahorrado se invierte en tareas estratégicas, como el análisis de datos, la atención al cliente o la innovación en procesos.</a:t>
            </a:r>
          </a:p>
          <a:p>
            <a:pPr algn="ctr">
              <a:lnSpc>
                <a:spcPts val="4246"/>
              </a:lnSpc>
            </a:pPr>
          </a:p>
          <a:p>
            <a:pPr algn="ctr" marL="517959" indent="-258980" lvl="1">
              <a:lnSpc>
                <a:spcPts val="4246"/>
              </a:lnSpc>
              <a:buFont typeface="Arial"/>
              <a:buChar char="•"/>
            </a:pPr>
            <a:r>
              <a:rPr lang="en-US" sz="2399" spc="5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Habilidad transferible: Aprender a automatizar este proceso con Python le da una habilidad valiosa que se aplica a cualquier industria y tarea de manejo de datos.</a:t>
            </a:r>
          </a:p>
          <a:p>
            <a:pPr algn="ctr">
              <a:lnSpc>
                <a:spcPts val="4246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93808" y="6242497"/>
            <a:ext cx="665056" cy="691866"/>
          </a:xfrm>
          <a:custGeom>
            <a:avLst/>
            <a:gdLst/>
            <a:ahLst/>
            <a:cxnLst/>
            <a:rect r="r" b="b" t="t" l="l"/>
            <a:pathLst>
              <a:path h="691866" w="665056">
                <a:moveTo>
                  <a:pt x="0" y="0"/>
                </a:moveTo>
                <a:lnTo>
                  <a:pt x="665056" y="0"/>
                </a:lnTo>
                <a:lnTo>
                  <a:pt x="665056" y="691866"/>
                </a:lnTo>
                <a:lnTo>
                  <a:pt x="0" y="691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93808" y="7327283"/>
            <a:ext cx="665056" cy="691866"/>
          </a:xfrm>
          <a:custGeom>
            <a:avLst/>
            <a:gdLst/>
            <a:ahLst/>
            <a:cxnLst/>
            <a:rect r="r" b="b" t="t" l="l"/>
            <a:pathLst>
              <a:path h="691866" w="665056">
                <a:moveTo>
                  <a:pt x="0" y="0"/>
                </a:moveTo>
                <a:lnTo>
                  <a:pt x="665056" y="0"/>
                </a:lnTo>
                <a:lnTo>
                  <a:pt x="665056" y="691865"/>
                </a:lnTo>
                <a:lnTo>
                  <a:pt x="0" y="6918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60483" y="5329504"/>
            <a:ext cx="491286" cy="506955"/>
          </a:xfrm>
          <a:custGeom>
            <a:avLst/>
            <a:gdLst/>
            <a:ahLst/>
            <a:cxnLst/>
            <a:rect r="r" b="b" t="t" l="l"/>
            <a:pathLst>
              <a:path h="506955" w="491286">
                <a:moveTo>
                  <a:pt x="0" y="0"/>
                </a:moveTo>
                <a:lnTo>
                  <a:pt x="491286" y="0"/>
                </a:lnTo>
                <a:lnTo>
                  <a:pt x="491286" y="506955"/>
                </a:lnTo>
                <a:lnTo>
                  <a:pt x="0" y="506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92977" y="5087440"/>
            <a:ext cx="5933675" cy="72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2"/>
              </a:lnSpc>
            </a:pPr>
            <a:r>
              <a:rPr lang="en-US" sz="5191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Conclusión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34070" y="1044789"/>
            <a:ext cx="10651488" cy="3634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2"/>
              </a:lnSpc>
            </a:pPr>
          </a:p>
          <a:p>
            <a:pPr algn="ctr">
              <a:lnSpc>
                <a:spcPts val="7092"/>
              </a:lnSpc>
            </a:pPr>
            <a:r>
              <a:rPr lang="en-US" b="true" sz="669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LA AUTOMATIZACIÓN NO ES EL FUTURO, ES EL PRESENTE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82610" y="6286641"/>
            <a:ext cx="9954409" cy="251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2"/>
              </a:lnSpc>
            </a:pPr>
            <a:r>
              <a:rPr lang="en-US" sz="205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 diferencia entre los profesionales de hoy y los del mañana radica en la capacidad de aprovechar la tecnología para ser más eficientes. Python es la herramienta para lograrlo.</a:t>
            </a:r>
          </a:p>
          <a:p>
            <a:pPr algn="just">
              <a:lnSpc>
                <a:spcPts val="2872"/>
              </a:lnSpc>
            </a:pPr>
          </a:p>
          <a:p>
            <a:pPr algn="just">
              <a:lnSpc>
                <a:spcPts val="2872"/>
              </a:lnSpc>
            </a:pPr>
            <a:r>
              <a:rPr lang="en-US" sz="205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 animo a aplicar estos conocimientos en su propio trabajo. Identifique la tarea más repetitiva que realiza y pregúntese: "¿Cómo podría automatizar esto?"</a:t>
            </a: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294803" y="5597404"/>
            <a:ext cx="498175" cy="498175"/>
          </a:xfrm>
          <a:custGeom>
            <a:avLst/>
            <a:gdLst/>
            <a:ahLst/>
            <a:cxnLst/>
            <a:rect r="r" b="b" t="t" l="l"/>
            <a:pathLst>
              <a:path h="498175" w="498175">
                <a:moveTo>
                  <a:pt x="0" y="0"/>
                </a:moveTo>
                <a:lnTo>
                  <a:pt x="498174" y="0"/>
                </a:lnTo>
                <a:lnTo>
                  <a:pt x="498174" y="498175"/>
                </a:lnTo>
                <a:lnTo>
                  <a:pt x="0" y="498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5908110" y="5888972"/>
            <a:ext cx="5703409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995862"/>
            <a:ext cx="16230600" cy="2184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04"/>
              </a:lnSpc>
              <a:spcBef>
                <a:spcPct val="0"/>
              </a:spcBef>
            </a:pPr>
            <a:r>
              <a:rPr lang="en-US" b="true" sz="16304" spc="586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3502178" y="4652264"/>
            <a:ext cx="11384653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451673" y="2796256"/>
            <a:ext cx="11384653" cy="1967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5"/>
              </a:lnSpc>
              <a:spcBef>
                <a:spcPct val="0"/>
              </a:spcBef>
            </a:pPr>
            <a:r>
              <a:rPr lang="en-US" sz="14845">
                <a:solidFill>
                  <a:srgbClr val="FFFFFF"/>
                </a:solidFill>
                <a:latin typeface="Niconne"/>
                <a:ea typeface="Niconne"/>
                <a:cs typeface="Niconne"/>
                <a:sym typeface="Niconne"/>
              </a:rPr>
              <a:t>Muchas</a:t>
            </a:r>
          </a:p>
        </p:txBody>
      </p:sp>
      <p:sp>
        <p:nvSpPr>
          <p:cNvPr name="AutoShape 5" id="5"/>
          <p:cNvSpPr/>
          <p:nvPr/>
        </p:nvSpPr>
        <p:spPr>
          <a:xfrm>
            <a:off x="-7688077" y="456433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6958993" y="9796462"/>
            <a:ext cx="31256318" cy="0"/>
          </a:xfrm>
          <a:prstGeom prst="line">
            <a:avLst/>
          </a:prstGeom>
          <a:ln cap="rnd" w="66675">
            <a:solidFill>
              <a:srgbClr val="0CC0D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1028700"/>
            <a:ext cx="564513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4"/>
              </a:lnSpc>
              <a:spcBef>
                <a:spcPct val="0"/>
              </a:spcBef>
            </a:pPr>
            <a:r>
              <a:rPr lang="en-US" b="true" sz="1912" spc="105">
                <a:solidFill>
                  <a:srgbClr val="BC8DFF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CENTRO EDUCATIVO LOGROS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28186" y="4083557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557706" y="4101211"/>
            <a:ext cx="1102108" cy="1102108"/>
          </a:xfrm>
          <a:custGeom>
            <a:avLst/>
            <a:gdLst/>
            <a:ahLst/>
            <a:cxnLst/>
            <a:rect r="r" b="b" t="t" l="l"/>
            <a:pathLst>
              <a:path h="1102108" w="1102108">
                <a:moveTo>
                  <a:pt x="0" y="0"/>
                </a:moveTo>
                <a:lnTo>
                  <a:pt x="1102108" y="0"/>
                </a:lnTo>
                <a:lnTo>
                  <a:pt x="1102108" y="1102107"/>
                </a:lnTo>
                <a:lnTo>
                  <a:pt x="0" y="1102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DAG6EaJXjX4</dc:identifier>
  <dcterms:modified xsi:type="dcterms:W3CDTF">2011-08-01T06:04:30Z</dcterms:modified>
  <cp:revision>1</cp:revision>
  <dc:title>Presentación Diapositivas Proyecto Creativo Minimalista Negro y Morado</dc:title>
</cp:coreProperties>
</file>